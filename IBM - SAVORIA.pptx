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51059781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GB" sz="2000" dirty="0"/>
                        <a:t>Harini D</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GB" dirty="0"/>
                        <a:t>harinidurai621@gmail.com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GB" dirty="0"/>
                        <a:t>6369941877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127957" y="3738417"/>
            <a:ext cx="612633"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dirty="0">
                <a:highlight>
                  <a:srgbClr val="FFFF00"/>
                </a:highlight>
              </a:rPr>
              <a:t>Artificial Intelligence /Agentic AI / Food Technology</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769441"/>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000" dirty="0">
                <a:highlight>
                  <a:srgbClr val="FFFF00"/>
                </a:highlight>
              </a:rPr>
              <a:t>SAVORIA: An AI-Powered RAG-Based Intelligent Recipe Preparation Agent for Personalized, Ingredient-Based Meal Preparation</a:t>
            </a:r>
            <a:r>
              <a:rPr lang="en-US" sz="2000" b="1" dirty="0">
                <a:highlight>
                  <a:srgbClr val="FFFF00"/>
                </a:highlight>
              </a:rPr>
              <a:t>]</a:t>
            </a:r>
            <a:endParaRPr lang="en-IN" sz="20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632311"/>
          </a:xfrm>
          <a:prstGeom prst="rect">
            <a:avLst/>
          </a:prstGeom>
          <a:noFill/>
        </p:spPr>
        <p:txBody>
          <a:bodyPr wrap="square" rtlCol="0">
            <a:spAutoFit/>
          </a:bodyPr>
          <a:lstStyle/>
          <a:p>
            <a:pPr fontAlgn="base"/>
            <a:r>
              <a:rPr lang="en-US" sz="1800" b="1" dirty="0"/>
              <a:t>THE CHALLENGE</a:t>
            </a:r>
            <a:r>
              <a:rPr lang="en-US" sz="1800" dirty="0"/>
              <a:t> </a:t>
            </a:r>
          </a:p>
          <a:p>
            <a:pPr fontAlgn="base"/>
            <a:r>
              <a:rPr lang="en-IN" sz="1800" dirty="0"/>
              <a:t>Many people have groceries available at home but struggle to decide what meals they can prepare with them. Finding suitable recipes, identifying ingredient substitutions, and adapting meals to dietary preferences can be time-consuming.</a:t>
            </a:r>
            <a:endParaRPr lang="en-US" sz="1800" dirty="0"/>
          </a:p>
          <a:p>
            <a:pPr fontAlgn="base"/>
            <a:r>
              <a:rPr lang="en-IN" sz="1800" b="1" dirty="0"/>
              <a:t>THE OBJECTIVE </a:t>
            </a:r>
          </a:p>
          <a:p>
            <a:pPr fontAlgn="base"/>
            <a:r>
              <a:rPr lang="en-IN" sz="1800" dirty="0"/>
              <a:t>Build an AI-powered Recipe Preparation Agent that uses RAG to retrieve relevant recipes and generate personalized meal suggestions based on available ingredients, preferences, and dietary restrictions. </a:t>
            </a:r>
          </a:p>
          <a:p>
            <a:pPr fontAlgn="base"/>
            <a:r>
              <a:rPr lang="en-IN" sz="1800" b="1" dirty="0"/>
              <a:t>KEY OBJECTIVES</a:t>
            </a:r>
          </a:p>
          <a:p>
            <a:pPr fontAlgn="base"/>
            <a:r>
              <a:rPr lang="en-IN" sz="1800" dirty="0"/>
              <a:t>• Ingredient-Based Recipe Suggestions Recommend practical recipes using ingredients already available. </a:t>
            </a:r>
          </a:p>
          <a:p>
            <a:pPr fontAlgn="base"/>
            <a:r>
              <a:rPr lang="en-IN" sz="1800" dirty="0"/>
              <a:t>• RAG-Based Recipe Retrieval Retrieve relevant recipes and cooking knowledge before generating recommendations. </a:t>
            </a:r>
          </a:p>
          <a:p>
            <a:pPr fontAlgn="base"/>
            <a:r>
              <a:rPr lang="en-IN" sz="1800" dirty="0"/>
              <a:t>• Personalized Meal Preparation Adapt recipes according to cuisine, meal type, cooking time, servings, and user preferences. </a:t>
            </a:r>
          </a:p>
          <a:p>
            <a:pPr fontAlgn="base"/>
            <a:r>
              <a:rPr lang="en-IN" sz="1800" dirty="0"/>
              <a:t>• Ingredient Substitution Suggest suitable alternatives when required ingredients are unavailable. </a:t>
            </a:r>
          </a:p>
          <a:p>
            <a:pPr fontAlgn="base"/>
            <a:r>
              <a:rPr lang="en-IN" sz="1800" dirty="0"/>
              <a:t>• Dietary Adaptation Adjust recipes according to dietary preferences or restrictions. </a:t>
            </a:r>
          </a:p>
          <a:p>
            <a:pPr fontAlgn="base"/>
            <a:r>
              <a:rPr lang="en-IN" sz="1800" dirty="0"/>
              <a:t>• Food-Waste Reduction Help users make better use of existing groceries and reduce unnecessary food waste.</a:t>
            </a:r>
            <a:endParaRPr lang="en-US" sz="1800" dirty="0"/>
          </a:p>
          <a:p>
            <a:endParaRPr lang="en-IN" sz="18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8129016" cy="461665"/>
          </a:xfrm>
          <a:prstGeom prst="rect">
            <a:avLst/>
          </a:prstGeom>
          <a:noFill/>
        </p:spPr>
        <p:txBody>
          <a:bodyPr wrap="square" rtlCol="0">
            <a:spAutoFit/>
          </a:bodyPr>
          <a:lstStyle/>
          <a:p>
            <a:r>
              <a:rPr lang="en-US" sz="2400" b="1" dirty="0"/>
              <a:t>Problem Statement – </a:t>
            </a:r>
            <a:r>
              <a:rPr lang="en-US" sz="2400" dirty="0"/>
              <a:t>16. </a:t>
            </a:r>
            <a:r>
              <a:rPr lang="en-IN" sz="2400" dirty="0"/>
              <a:t>Recipe Preparation Agent</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832092"/>
          </a:xfrm>
          <a:prstGeom prst="rect">
            <a:avLst/>
          </a:prstGeom>
          <a:noFill/>
        </p:spPr>
        <p:txBody>
          <a:bodyPr wrap="square" rtlCol="0">
            <a:spAutoFit/>
          </a:bodyPr>
          <a:lstStyle/>
          <a:p>
            <a:pPr fontAlgn="base"/>
            <a:r>
              <a:rPr lang="en-GB" b="1" dirty="0"/>
              <a:t>PROPOSED SOLUTION</a:t>
            </a:r>
            <a:r>
              <a:rPr lang="en-GB" dirty="0"/>
              <a:t>: AI-POWERED RECIPE PREPARATION AGENT</a:t>
            </a:r>
          </a:p>
          <a:p>
            <a:pPr fontAlgn="base"/>
            <a:endParaRPr lang="en-GB" dirty="0"/>
          </a:p>
          <a:p>
            <a:pPr fontAlgn="base"/>
            <a:r>
              <a:rPr lang="en-GB" dirty="0"/>
              <a:t>SAVORIA is an AI-powered RAG-based Recipe Preparation Agent that transforms available groceries into practical, personalized meal solutions.</a:t>
            </a:r>
          </a:p>
          <a:p>
            <a:pPr fontAlgn="base"/>
            <a:r>
              <a:rPr lang="en-GB" dirty="0"/>
              <a:t>The system retrieves relevant recipes and cooking knowledge from a curated knowledge base and uses IBM watsonx.ai to generate recipes adapted to the user's ingredients and preferences.</a:t>
            </a:r>
          </a:p>
          <a:p>
            <a:pPr fontAlgn="base"/>
            <a:endParaRPr lang="en-GB" dirty="0"/>
          </a:p>
          <a:p>
            <a:pPr fontAlgn="base"/>
            <a:r>
              <a:rPr lang="en-GB" b="1" dirty="0"/>
              <a:t>KEY COMPONENTS</a:t>
            </a:r>
          </a:p>
          <a:p>
            <a:pPr fontAlgn="base"/>
            <a:r>
              <a:rPr lang="en-GB" dirty="0"/>
              <a:t>• Ingredient Analyzer</a:t>
            </a:r>
          </a:p>
          <a:p>
            <a:pPr fontAlgn="base"/>
            <a:r>
              <a:rPr lang="en-GB" dirty="0"/>
              <a:t>  Understands available ingredients and user requirements.</a:t>
            </a:r>
          </a:p>
          <a:p>
            <a:pPr fontAlgn="base"/>
            <a:r>
              <a:rPr lang="en-GB" dirty="0"/>
              <a:t>• Recipe Retriever</a:t>
            </a:r>
          </a:p>
          <a:p>
            <a:pPr fontAlgn="base"/>
            <a:r>
              <a:rPr lang="en-GB" dirty="0"/>
              <a:t>  Uses RAG to retrieve relevant recipes and cooking information.</a:t>
            </a:r>
          </a:p>
          <a:p>
            <a:pPr fontAlgn="base"/>
            <a:r>
              <a:rPr lang="en-GB" dirty="0"/>
              <a:t>• Recipe Generator</a:t>
            </a:r>
          </a:p>
          <a:p>
            <a:pPr fontAlgn="base"/>
            <a:r>
              <a:rPr lang="en-GB" dirty="0"/>
              <a:t>  Creates personalized step-by-step recipes using the retrieved context.</a:t>
            </a:r>
          </a:p>
          <a:p>
            <a:pPr fontAlgn="base"/>
            <a:r>
              <a:rPr lang="en-GB" dirty="0"/>
              <a:t>• Substitution Advisor</a:t>
            </a:r>
          </a:p>
          <a:p>
            <a:pPr fontAlgn="base"/>
            <a:r>
              <a:rPr lang="en-GB" dirty="0"/>
              <a:t>  Suggests suitable alternatives for unavailable ingredients.</a:t>
            </a:r>
          </a:p>
          <a:p>
            <a:pPr fontAlgn="base"/>
            <a:r>
              <a:rPr lang="en-GB" dirty="0"/>
              <a:t>• Dietary Adaptation</a:t>
            </a:r>
          </a:p>
          <a:p>
            <a:pPr fontAlgn="base"/>
            <a:r>
              <a:rPr lang="en-GB" dirty="0"/>
              <a:t>  Adjusts recipes according to user preferences and dietary restrictions.</a:t>
            </a:r>
          </a:p>
          <a:p>
            <a:pPr fontAlgn="base"/>
            <a:r>
              <a:rPr lang="en-GB" dirty="0"/>
              <a:t>• Cooking &amp; Feedback Module</a:t>
            </a:r>
          </a:p>
          <a:p>
            <a:pPr fontAlgn="base"/>
            <a:r>
              <a:rPr lang="en-GB" dirty="0"/>
              <a:t>  Provides structured preparation steps, cooking tips, and practical guidance.</a:t>
            </a:r>
          </a:p>
          <a:p>
            <a:pPr fontAlgn="base"/>
            <a:endParaRPr lang="en-GB" dirty="0"/>
          </a:p>
          <a:p>
            <a:pPr fontAlgn="base"/>
            <a:r>
              <a:rPr lang="en-GB" dirty="0"/>
              <a:t>The solution helps users save time, use available groceries effectively, and reduce food waste through intelligent meal preparation.</a:t>
            </a:r>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088136"/>
            <a:ext cx="10515600" cy="5632311"/>
          </a:xfrm>
          <a:prstGeom prst="rect">
            <a:avLst/>
          </a:prstGeom>
          <a:noFill/>
        </p:spPr>
        <p:txBody>
          <a:bodyPr wrap="square" rtlCol="0">
            <a:spAutoFit/>
          </a:bodyPr>
          <a:lstStyle/>
          <a:p>
            <a:r>
              <a:rPr lang="en-US" sz="2000" dirty="0"/>
              <a:t>• IBM Bob</a:t>
            </a:r>
          </a:p>
          <a:p>
            <a:r>
              <a:rPr lang="en-US" sz="2000" dirty="0"/>
              <a:t>  Used for designing and developing the intelligent application workflow.</a:t>
            </a:r>
          </a:p>
          <a:p>
            <a:r>
              <a:rPr lang="en-US" sz="2000" dirty="0"/>
              <a:t>• IBM watsonx.ai</a:t>
            </a:r>
          </a:p>
          <a:p>
            <a:r>
              <a:rPr lang="en-US" sz="2000" dirty="0"/>
              <a:t>  Used as the AI generation and evaluation layer.</a:t>
            </a:r>
          </a:p>
          <a:p>
            <a:r>
              <a:rPr lang="en-US" sz="2000" dirty="0"/>
              <a:t>• Foundation Model</a:t>
            </a:r>
          </a:p>
          <a:p>
            <a:r>
              <a:rPr lang="en-US" sz="2000" dirty="0"/>
              <a:t>  Configurable IBM watsonx.ai foundation model for recipe generation, personalization, and reasoning.</a:t>
            </a:r>
          </a:p>
          <a:p>
            <a:r>
              <a:rPr lang="en-US" sz="2000" dirty="0"/>
              <a:t>• Retrieval-Augmented Generation (RAG)</a:t>
            </a:r>
          </a:p>
          <a:p>
            <a:r>
              <a:rPr lang="en-US" sz="2000" dirty="0"/>
              <a:t>  Retrieves relevant recipe and cooking knowledge before generating personalized    responses.</a:t>
            </a:r>
          </a:p>
          <a:p>
            <a:r>
              <a:rPr lang="en-US" sz="2000" dirty="0"/>
              <a:t>• Vector Database</a:t>
            </a:r>
          </a:p>
          <a:p>
            <a:r>
              <a:rPr lang="en-US" sz="2000" dirty="0"/>
              <a:t>  FAISS / lightweight vector storage for efficient recipe knowledge retrieval.</a:t>
            </a:r>
          </a:p>
          <a:p>
            <a:r>
              <a:rPr lang="en-US" sz="2000" dirty="0"/>
              <a:t>• React</a:t>
            </a:r>
          </a:p>
          <a:p>
            <a:r>
              <a:rPr lang="en-US" sz="2000" dirty="0"/>
              <a:t>  Used to build the responsive and professional user interface.</a:t>
            </a:r>
          </a:p>
          <a:p>
            <a:r>
              <a:rPr lang="en-US" sz="2000" dirty="0"/>
              <a:t>• Python / </a:t>
            </a:r>
            <a:r>
              <a:rPr lang="en-US" sz="2000" dirty="0" err="1"/>
              <a:t>FastAPI</a:t>
            </a:r>
            <a:endParaRPr lang="en-US" sz="2000" dirty="0"/>
          </a:p>
          <a:p>
            <a:r>
              <a:rPr lang="en-US" sz="2000" dirty="0"/>
              <a:t>  Used for backend APIs, RAG processing, recipe generation, and AI integration.</a:t>
            </a:r>
          </a:p>
          <a:p>
            <a:r>
              <a:rPr lang="en-US" sz="2000" dirty="0"/>
              <a:t>• Local / Lightweight Storage</a:t>
            </a:r>
          </a:p>
          <a:p>
            <a:r>
              <a:rPr lang="en-US" sz="2000" dirty="0"/>
              <a:t>  Used for preferences, saved recipes, recent recipes, and cooking progress.</a:t>
            </a:r>
            <a:endParaRPr lang="en-IN" sz="1600"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1332F3F-EEF3-260F-52BA-62370775058E}"/>
              </a:ext>
            </a:extLst>
          </p:cNvPr>
          <p:cNvPicPr>
            <a:picLocks noChangeAspect="1"/>
          </p:cNvPicPr>
          <p:nvPr/>
        </p:nvPicPr>
        <p:blipFill>
          <a:blip r:embed="rId3"/>
          <a:srcRect/>
          <a:stretch/>
        </p:blipFill>
        <p:spPr>
          <a:xfrm>
            <a:off x="1201438" y="863187"/>
            <a:ext cx="9487269" cy="5336589"/>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26AE77B4-704A-3A83-DF19-A19BAD53F97B}"/>
              </a:ext>
            </a:extLst>
          </p:cNvPr>
          <p:cNvPicPr>
            <a:picLocks noChangeAspect="1"/>
          </p:cNvPicPr>
          <p:nvPr/>
        </p:nvPicPr>
        <p:blipFill>
          <a:blip r:embed="rId3"/>
          <a:srcRect/>
          <a:stretch/>
        </p:blipFill>
        <p:spPr>
          <a:xfrm>
            <a:off x="1367683" y="862241"/>
            <a:ext cx="9456634" cy="5319357"/>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rcRect/>
          <a:stretch/>
        </p:blipFill>
        <p:spPr>
          <a:xfrm>
            <a:off x="646969" y="400546"/>
            <a:ext cx="10166128"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6697535D-EBF5-41DE-E93B-760133BF95C6}"/>
              </a:ext>
            </a:extLst>
          </p:cNvPr>
          <p:cNvPicPr>
            <a:picLocks noChangeAspect="1"/>
          </p:cNvPicPr>
          <p:nvPr/>
        </p:nvPicPr>
        <p:blipFill>
          <a:blip r:embed="rId3"/>
          <a:srcRect/>
          <a:stretch/>
        </p:blipFill>
        <p:spPr>
          <a:xfrm>
            <a:off x="3212715" y="1053081"/>
            <a:ext cx="6666906" cy="5481679"/>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262979"/>
          </a:xfrm>
          <a:prstGeom prst="rect">
            <a:avLst/>
          </a:prstGeom>
          <a:noFill/>
        </p:spPr>
        <p:txBody>
          <a:bodyPr wrap="square" rtlCol="0">
            <a:spAutoFit/>
          </a:bodyPr>
          <a:lstStyle/>
          <a:p>
            <a:r>
              <a:rPr lang="en-GB" b="1" dirty="0"/>
              <a:t>ROLE OF AGENTIC AI IN SAVORIA</a:t>
            </a:r>
          </a:p>
          <a:p>
            <a:endParaRPr lang="en-GB" dirty="0"/>
          </a:p>
          <a:p>
            <a:r>
              <a:rPr lang="en-GB" dirty="0"/>
              <a:t>Agentic AI enables SAVORIA to function as an intelligent recipe preparation system rather than a simple recipe search tool.</a:t>
            </a:r>
          </a:p>
          <a:p>
            <a:r>
              <a:rPr lang="en-GB" dirty="0"/>
              <a:t>It </a:t>
            </a:r>
            <a:r>
              <a:rPr lang="en-GB" dirty="0" err="1"/>
              <a:t>analyzes</a:t>
            </a:r>
            <a:r>
              <a:rPr lang="en-GB" dirty="0"/>
              <a:t> the user's available ingredients, preferences, dietary requirements, and cooking constraints to determine the most suitable meal options.</a:t>
            </a:r>
          </a:p>
          <a:p>
            <a:endParaRPr lang="en-GB" dirty="0"/>
          </a:p>
          <a:p>
            <a:r>
              <a:rPr lang="en-GB" b="1" dirty="0"/>
              <a:t>KEY ROLES</a:t>
            </a:r>
          </a:p>
          <a:p>
            <a:r>
              <a:rPr lang="en-GB" dirty="0"/>
              <a:t>• Ingredient Analysis</a:t>
            </a:r>
          </a:p>
          <a:p>
            <a:r>
              <a:rPr lang="en-GB" dirty="0"/>
              <a:t>  Understands available groceries and identifies usable ingredients.</a:t>
            </a:r>
          </a:p>
          <a:p>
            <a:r>
              <a:rPr lang="en-GB" dirty="0"/>
              <a:t>• Intelligent Retrieval</a:t>
            </a:r>
          </a:p>
          <a:p>
            <a:r>
              <a:rPr lang="en-GB" dirty="0"/>
              <a:t>  Retrieves relevant recipes and cooking knowledge using RAG.</a:t>
            </a:r>
          </a:p>
          <a:p>
            <a:r>
              <a:rPr lang="en-GB" dirty="0"/>
              <a:t>• Recipe Planning</a:t>
            </a:r>
          </a:p>
          <a:p>
            <a:r>
              <a:rPr lang="en-GB" dirty="0"/>
              <a:t>  Determines suitable meals based on ingredients, preferences, and constraints.</a:t>
            </a:r>
          </a:p>
          <a:p>
            <a:r>
              <a:rPr lang="en-GB" dirty="0"/>
              <a:t>• Personalized Generation</a:t>
            </a:r>
          </a:p>
          <a:p>
            <a:r>
              <a:rPr lang="en-GB" dirty="0"/>
              <a:t>  Generates step-by-step recipes adapted to the user's requirements.</a:t>
            </a:r>
          </a:p>
          <a:p>
            <a:r>
              <a:rPr lang="en-GB" dirty="0"/>
              <a:t>• Substitution Assistance</a:t>
            </a:r>
          </a:p>
          <a:p>
            <a:r>
              <a:rPr lang="en-GB" dirty="0"/>
              <a:t>  Recommends alternatives for unavailable ingredients.</a:t>
            </a:r>
          </a:p>
          <a:p>
            <a:r>
              <a:rPr lang="en-GB" dirty="0"/>
              <a:t>• Dietary Adaptation</a:t>
            </a:r>
          </a:p>
          <a:p>
            <a:r>
              <a:rPr lang="en-GB" dirty="0"/>
              <a:t>  Adjusts recipes according to dietary preferences and restrictions.</a:t>
            </a:r>
          </a:p>
          <a:p>
            <a:r>
              <a:rPr lang="en-GB" dirty="0"/>
              <a:t>• Context-Aware Decision Making</a:t>
            </a:r>
          </a:p>
          <a:p>
            <a:r>
              <a:rPr lang="en-GB" dirty="0"/>
              <a:t>  Combines retrieved knowledge with user context to provide practical meal solutions.</a:t>
            </a:r>
          </a:p>
          <a:p>
            <a:r>
              <a:rPr lang="en-GB" dirty="0"/>
              <a:t>Overall, Agentic AI makes SAVORIA adaptive, personalized, and goal-oriented, helping users transform available ingredients into practical meals while reducing food waste.</a:t>
            </a:r>
            <a:endParaRPr lang="en-US" dirty="0"/>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12" name="Picture 11">
            <a:extLst>
              <a:ext uri="{FF2B5EF4-FFF2-40B4-BE49-F238E27FC236}">
                <a16:creationId xmlns:a16="http://schemas.microsoft.com/office/drawing/2014/main" id="{3E29AF1D-88C4-87E5-74DF-4E97121E06CE}"/>
              </a:ext>
            </a:extLst>
          </p:cNvPr>
          <p:cNvPicPr>
            <a:picLocks noChangeAspect="1"/>
          </p:cNvPicPr>
          <p:nvPr/>
        </p:nvPicPr>
        <p:blipFill>
          <a:blip r:embed="rId3"/>
          <a:srcRect/>
          <a:stretch/>
        </p:blipFill>
        <p:spPr>
          <a:xfrm>
            <a:off x="6387451" y="2337366"/>
            <a:ext cx="5629831" cy="2857499"/>
          </a:xfrm>
          <a:prstGeom prst="rect">
            <a:avLst/>
          </a:prstGeom>
        </p:spPr>
      </p:pic>
      <p:pic>
        <p:nvPicPr>
          <p:cNvPr id="13" name="Picture 12">
            <a:extLst>
              <a:ext uri="{FF2B5EF4-FFF2-40B4-BE49-F238E27FC236}">
                <a16:creationId xmlns:a16="http://schemas.microsoft.com/office/drawing/2014/main" id="{C81444F5-0692-DD67-1759-70821E53B029}"/>
              </a:ext>
            </a:extLst>
          </p:cNvPr>
          <p:cNvPicPr>
            <a:picLocks noChangeAspect="1"/>
          </p:cNvPicPr>
          <p:nvPr/>
        </p:nvPicPr>
        <p:blipFill>
          <a:blip r:embed="rId4"/>
          <a:srcRect/>
          <a:stretch/>
        </p:blipFill>
        <p:spPr>
          <a:xfrm>
            <a:off x="541415" y="2343463"/>
            <a:ext cx="5658912"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rcRect/>
          <a:stretch/>
        </p:blipFill>
        <p:spPr>
          <a:xfrm>
            <a:off x="910820" y="885593"/>
            <a:ext cx="10160522"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rcRect/>
          <a:stretch/>
        </p:blipFill>
        <p:spPr>
          <a:xfrm>
            <a:off x="1107619" y="1004536"/>
            <a:ext cx="9401607"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rcRect/>
          <a:stretch/>
        </p:blipFill>
        <p:spPr>
          <a:xfrm>
            <a:off x="811546" y="800029"/>
            <a:ext cx="10568908"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355312"/>
          </a:xfrm>
          <a:prstGeom prst="rect">
            <a:avLst/>
          </a:prstGeom>
          <a:noFill/>
        </p:spPr>
        <p:txBody>
          <a:bodyPr wrap="square" rtlCol="0">
            <a:spAutoFit/>
          </a:bodyPr>
          <a:lstStyle/>
          <a:p>
            <a:r>
              <a:rPr lang="en-GB" sz="1800" dirty="0"/>
              <a:t>SAVORIA combines RAG, Agentic AI, and ingredient-based personalization to create an intelligent meal preparation experience.</a:t>
            </a:r>
          </a:p>
          <a:p>
            <a:r>
              <a:rPr lang="en-GB" sz="1800" dirty="0"/>
              <a:t>• Ingredient-First Intelligence</a:t>
            </a:r>
          </a:p>
          <a:p>
            <a:r>
              <a:rPr lang="en-GB" sz="1800" dirty="0"/>
              <a:t>  Generates practical recipes based primarily on ingredients already available to the user.</a:t>
            </a:r>
          </a:p>
          <a:p>
            <a:r>
              <a:rPr lang="en-GB" sz="1800" dirty="0"/>
              <a:t>• RAG-Based Recipe Retrieval</a:t>
            </a:r>
          </a:p>
          <a:p>
            <a:r>
              <a:rPr lang="en-GB" sz="1800" dirty="0"/>
              <a:t>  Retrieves relevant recipe and cooking knowledge before generating recommendations.</a:t>
            </a:r>
          </a:p>
          <a:p>
            <a:r>
              <a:rPr lang="en-GB" sz="1800" dirty="0"/>
              <a:t>• Personalized Recipe Adaptation</a:t>
            </a:r>
          </a:p>
          <a:p>
            <a:r>
              <a:rPr lang="en-GB" sz="1800" dirty="0"/>
              <a:t>  Adapts recipes according to dietary preferences, cuisine, meal type, cooking time, and servings.</a:t>
            </a:r>
          </a:p>
          <a:p>
            <a:r>
              <a:rPr lang="en-GB" sz="1800" dirty="0"/>
              <a:t>• Smart Ingredient Substitution</a:t>
            </a:r>
          </a:p>
          <a:p>
            <a:r>
              <a:rPr lang="en-GB" sz="1800" dirty="0"/>
              <a:t>  Suggests practical alternatives when required ingredients are unavailable.</a:t>
            </a:r>
          </a:p>
          <a:p>
            <a:r>
              <a:rPr lang="en-GB" sz="1800" dirty="0"/>
              <a:t>• Food-Waste Reduction</a:t>
            </a:r>
          </a:p>
          <a:p>
            <a:r>
              <a:rPr lang="en-GB" sz="1800" dirty="0"/>
              <a:t>  Helps users make better use of existing groceries instead of requiring completely new ingredients.</a:t>
            </a:r>
          </a:p>
          <a:p>
            <a:r>
              <a:rPr lang="en-GB" sz="1800" dirty="0"/>
              <a:t>• Context-Aware Meal Planning</a:t>
            </a:r>
          </a:p>
          <a:p>
            <a:r>
              <a:rPr lang="en-GB" sz="1800" dirty="0"/>
              <a:t>  Combines user preferences, available ingredients, and retrieved recipe knowledge to produce relevant meal solutions.</a:t>
            </a:r>
          </a:p>
          <a:p>
            <a:r>
              <a:rPr lang="en-GB" sz="1800" dirty="0"/>
              <a:t>• Interactive Cooking Experience</a:t>
            </a:r>
          </a:p>
          <a:p>
            <a:r>
              <a:rPr lang="en-GB" sz="1800" dirty="0"/>
              <a:t>  Converts generated recipes into a structured step-by-step cooking mode.</a:t>
            </a:r>
          </a:p>
          <a:p>
            <a:r>
              <a:rPr lang="en-GB" sz="1800" dirty="0"/>
              <a:t>This makes SAVORIA more than a recipe search application — it is a personalized, adaptive, and ingredient-aware recipe preparation system.</a:t>
            </a:r>
            <a:endParaRPr lang="en-IN"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–https://github.com/harini621-exe/SAVORIA</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GB" sz="1850" dirty="0">
                <a:solidFill>
                  <a:schemeClr val="tx1"/>
                </a:solidFill>
                <a:latin typeface="Times New Roman"/>
                <a:ea typeface="Times New Roman"/>
                <a:cs typeface="Times New Roman"/>
                <a:sym typeface="Times New Roman"/>
              </a:rPr>
              <a:t>1. Image-Based Ingredient Recognition</a:t>
            </a:r>
          </a:p>
          <a:p>
            <a:pPr lvl="0">
              <a:lnSpc>
                <a:spcPct val="162162"/>
              </a:lnSpc>
              <a:buClr>
                <a:srgbClr val="2B3541"/>
              </a:buClr>
              <a:buSzPts val="1850"/>
            </a:pPr>
            <a:r>
              <a:rPr lang="en-GB" sz="1850" dirty="0">
                <a:solidFill>
                  <a:schemeClr val="tx1"/>
                </a:solidFill>
                <a:latin typeface="Times New Roman"/>
                <a:ea typeface="Times New Roman"/>
                <a:cs typeface="Times New Roman"/>
                <a:sym typeface="Times New Roman"/>
              </a:rPr>
              <a:t>   Identify available ingredients from uploaded grocery images.</a:t>
            </a:r>
          </a:p>
          <a:p>
            <a:pPr lvl="0">
              <a:lnSpc>
                <a:spcPct val="162162"/>
              </a:lnSpc>
              <a:buClr>
                <a:srgbClr val="2B3541"/>
              </a:buClr>
              <a:buSzPts val="1850"/>
            </a:pPr>
            <a:r>
              <a:rPr lang="en-GB" sz="1850" dirty="0">
                <a:solidFill>
                  <a:schemeClr val="tx1"/>
                </a:solidFill>
                <a:latin typeface="Times New Roman"/>
                <a:ea typeface="Times New Roman"/>
                <a:cs typeface="Times New Roman"/>
                <a:sym typeface="Times New Roman"/>
              </a:rPr>
              <a:t>2. Voice &amp; Multilingual Support</a:t>
            </a:r>
          </a:p>
          <a:p>
            <a:pPr lvl="0">
              <a:lnSpc>
                <a:spcPct val="162162"/>
              </a:lnSpc>
              <a:buClr>
                <a:srgbClr val="2B3541"/>
              </a:buClr>
              <a:buSzPts val="1850"/>
            </a:pPr>
            <a:r>
              <a:rPr lang="en-GB" sz="1850" dirty="0">
                <a:solidFill>
                  <a:schemeClr val="tx1"/>
                </a:solidFill>
                <a:latin typeface="Times New Roman"/>
                <a:ea typeface="Times New Roman"/>
                <a:cs typeface="Times New Roman"/>
                <a:sym typeface="Times New Roman"/>
              </a:rPr>
              <a:t>   Enable hands-free cooking assistance and recipe instructions in multiple languages.</a:t>
            </a:r>
          </a:p>
          <a:p>
            <a:pPr lvl="0">
              <a:lnSpc>
                <a:spcPct val="162162"/>
              </a:lnSpc>
              <a:buClr>
                <a:srgbClr val="2B3541"/>
              </a:buClr>
              <a:buSzPts val="1850"/>
            </a:pPr>
            <a:r>
              <a:rPr lang="en-GB" sz="1850" dirty="0">
                <a:solidFill>
                  <a:schemeClr val="tx1"/>
                </a:solidFill>
                <a:latin typeface="Times New Roman"/>
                <a:ea typeface="Times New Roman"/>
                <a:cs typeface="Times New Roman"/>
                <a:sym typeface="Times New Roman"/>
              </a:rPr>
              <a:t>3. Personalized Meal Planning</a:t>
            </a:r>
          </a:p>
          <a:p>
            <a:pPr lvl="0">
              <a:lnSpc>
                <a:spcPct val="162162"/>
              </a:lnSpc>
              <a:buClr>
                <a:srgbClr val="2B3541"/>
              </a:buClr>
              <a:buSzPts val="1850"/>
            </a:pPr>
            <a:r>
              <a:rPr lang="en-GB" sz="1850" dirty="0">
                <a:solidFill>
                  <a:schemeClr val="tx1"/>
                </a:solidFill>
                <a:latin typeface="Times New Roman"/>
                <a:ea typeface="Times New Roman"/>
                <a:cs typeface="Times New Roman"/>
                <a:sym typeface="Times New Roman"/>
              </a:rPr>
              <a:t>   Generate multi-day meal plans based on ingredients, preferences, and dietary requirements.</a:t>
            </a:r>
          </a:p>
          <a:p>
            <a:pPr lvl="0">
              <a:lnSpc>
                <a:spcPct val="162162"/>
              </a:lnSpc>
              <a:buClr>
                <a:srgbClr val="2B3541"/>
              </a:buClr>
              <a:buSzPts val="1850"/>
            </a:pPr>
            <a:r>
              <a:rPr lang="en-GB" sz="1850" dirty="0">
                <a:solidFill>
                  <a:schemeClr val="tx1"/>
                </a:solidFill>
                <a:latin typeface="Times New Roman"/>
                <a:ea typeface="Times New Roman"/>
                <a:cs typeface="Times New Roman"/>
                <a:sym typeface="Times New Roman"/>
              </a:rPr>
              <a:t>4. Smart Kitchen Integration</a:t>
            </a:r>
          </a:p>
          <a:p>
            <a:pPr lvl="0">
              <a:lnSpc>
                <a:spcPct val="162162"/>
              </a:lnSpc>
              <a:buClr>
                <a:srgbClr val="2B3541"/>
              </a:buClr>
              <a:buSzPts val="1850"/>
            </a:pPr>
            <a:r>
              <a:rPr lang="en-GB" sz="1850" dirty="0">
                <a:solidFill>
                  <a:schemeClr val="tx1"/>
                </a:solidFill>
                <a:latin typeface="Times New Roman"/>
                <a:ea typeface="Times New Roman"/>
                <a:cs typeface="Times New Roman"/>
                <a:sym typeface="Times New Roman"/>
              </a:rPr>
              <a:t>   Connect with smart kitchen devices for cooking timers, alerts, and automated assistance.</a:t>
            </a:r>
            <a:endParaRPr sz="1850" i="0" u="none" strike="noStrike" cap="none" dirty="0">
              <a:solidFill>
                <a:schemeClr val="tx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5" name="Picture 4">
            <a:extLst>
              <a:ext uri="{FF2B5EF4-FFF2-40B4-BE49-F238E27FC236}">
                <a16:creationId xmlns:a16="http://schemas.microsoft.com/office/drawing/2014/main" id="{ECA1DC75-9677-2534-42C6-0CCDB0680091}"/>
              </a:ext>
            </a:extLst>
          </p:cNvPr>
          <p:cNvPicPr>
            <a:picLocks noChangeAspect="1"/>
          </p:cNvPicPr>
          <p:nvPr/>
        </p:nvPicPr>
        <p:blipFill>
          <a:blip r:embed="rId2"/>
          <a:srcRect/>
          <a:stretch/>
        </p:blipFill>
        <p:spPr>
          <a:xfrm>
            <a:off x="2486428" y="1423459"/>
            <a:ext cx="6231354" cy="4744480"/>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18578B4F-9B20-64D7-9E16-F35812A25844}"/>
              </a:ext>
            </a:extLst>
          </p:cNvPr>
          <p:cNvPicPr>
            <a:picLocks noChangeAspect="1"/>
          </p:cNvPicPr>
          <p:nvPr/>
        </p:nvPicPr>
        <p:blipFill>
          <a:blip r:embed="rId2"/>
          <a:stretch>
            <a:fillRect/>
          </a:stretch>
        </p:blipFill>
        <p:spPr>
          <a:xfrm rot="5400000">
            <a:off x="4362300" y="799872"/>
            <a:ext cx="3467400" cy="5258256"/>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TotalTime>
  <Words>1206</Words>
  <Application>Microsoft Office PowerPoint</Application>
  <PresentationFormat>Widescreen</PresentationFormat>
  <Paragraphs>153</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Harini D</cp:lastModifiedBy>
  <cp:revision>5</cp:revision>
  <dcterms:created xsi:type="dcterms:W3CDTF">2025-07-08T05:06:56Z</dcterms:created>
  <dcterms:modified xsi:type="dcterms:W3CDTF">2026-09-11T18:27:49Z</dcterms:modified>
</cp:coreProperties>
</file>